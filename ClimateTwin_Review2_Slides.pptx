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2012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your architecture / block diagram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2011680" cy="7608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0" y="4114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Electronics Engineering (SENSE)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7498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(2026)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63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Name(s):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474720" y="3063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— Reg. No.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74720" y="346557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22960" y="3657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3657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Guide Name, School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474720" y="405993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4251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/ School: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4251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SENSE, VIT Chennai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474720" y="465429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822960" y="4846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Date: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48463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  ·  30.09.2026 (Wednesday)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474720" y="524865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46720" y="3063240"/>
            <a:ext cx="365760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D2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822960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Guide's Signature with Date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 _____________________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_________________________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5760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is mandatory before every review. After signing, scan this slide and keep the scanned copy as Slide 1 of the presentation.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Recap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sz="1600" b="1" i="0">
                <a:solidFill>
                  <a:srgbClr val="1D2F82"/>
                </a:solidFill>
              </a:rPr>
              <a:t>Problem Recap</a:t>
            </a:r>
          </a:p>
          <a:p>
            <a:pPr algn="l"/>
            <a:r>
              <a:rPr sz="1200" b="0" i="0">
                <a:solidFill>
                  <a:srgbClr val="000000"/>
                </a:solidFill>
              </a:rPr>
              <a:t>• Large-scale AI weather models (Aurora: 1.3B params; CREDIT: multi-model NWP) achieve SOTA global forecasts but require massive compute (multi-GPU clusters, petabyte datasets) — inaccessible for single-city or college-scale research.</a:t>
            </a:r>
          </a:p>
          <a:p>
            <a:pPr algn="l"/>
            <a:r>
              <a:rPr sz="1200" b="0" i="0">
                <a:solidFill>
                  <a:srgbClr val="000000"/>
                </a:solidFill>
              </a:rPr>
              <a:t>• No lightweight, reproducible framework adapts these ideas (pretrain→fine-tune, standardized evaluation, autoregressive rollout) at a localized, laptop-trainable scale for Indian cities.</a:t>
            </a:r>
          </a:p>
          <a:p>
            <a:pPr algn="l"/>
            <a:r>
              <a:rPr sz="1200" b="0" i="0">
                <a:solidFill>
                  <a:srgbClr val="000000"/>
                </a:solidFill>
              </a:rPr>
              <a:t>• Existing digital-twin + ML work (Jyothi &amp; Mesapam 2026) uses spatial/urban data (LST, NDVI) but not multivariate hourly weather time-series with sequence models.</a:t>
            </a:r>
          </a:p>
          <a:p>
            <a:pPr algn="l"/>
            <a:r>
              <a:rPr sz="600" b="0" i="0">
                <a:solidFill>
                  <a:srgbClr val="000000"/>
                </a:solidFill>
              </a:rPr>
              <a:t/>
            </a:r>
          </a:p>
          <a:p>
            <a:pPr algn="l"/>
            <a:r>
              <a:rPr sz="1600" b="1" i="0">
                <a:solidFill>
                  <a:srgbClr val="1D2F82"/>
                </a:solidFill>
              </a:rPr>
              <a:t>Research Objectives</a:t>
            </a:r>
          </a:p>
          <a:p>
            <a:pPr algn="l"/>
            <a:r>
              <a:rPr sz="1200" b="0" i="0">
                <a:solidFill>
                  <a:srgbClr val="000000"/>
                </a:solidFill>
              </a:rPr>
              <a:t>• RQ1 (Transfer Learning): Does multi-city pretrained Transformer improve Delhi forecast accuracy vs. scratch training on the same architecture?</a:t>
            </a:r>
          </a:p>
          <a:p>
            <a:pPr algn="l"/>
            <a:r>
              <a:rPr sz="1200" b="0" i="0">
                <a:solidFill>
                  <a:srgbClr val="000000"/>
                </a:solidFill>
              </a:rPr>
              <a:t>• RQ2 (Forecast Horizon): How does per-variable RMSE degrade across 1/3/6/12/24-step autoregressive horizons?</a:t>
            </a:r>
          </a:p>
          <a:p>
            <a:pPr algn="l"/>
            <a:r>
              <a:rPr sz="1200" b="0" i="0">
                <a:solidFill>
                  <a:srgbClr val="000000"/>
                </a:solidFill>
              </a:rPr>
              <a:t>• RQ3 (Architecture): Persistence vs. LSTM vs. Transformer (scratch) vs. Transformer (pretrained+fine-tuned) on 6 ERA5-Land variables for Delhi.</a:t>
            </a:r>
          </a:p>
          <a:p>
            <a:pPr algn="l"/>
            <a:r>
              <a:rPr sz="600" b="0" i="0">
                <a:solidFill>
                  <a:srgbClr val="000000"/>
                </a:solidFill>
              </a:rPr>
              <a:t/>
            </a:r>
          </a:p>
          <a:p>
            <a:pPr algn="l"/>
            <a:r>
              <a:rPr sz="1600" b="1" i="0">
                <a:solidFill>
                  <a:srgbClr val="1D2F82"/>
                </a:solidFill>
              </a:rPr>
              <a:t>Refinements after Review-I</a:t>
            </a:r>
          </a:p>
          <a:p>
            <a:pPr algn="l"/>
            <a:r>
              <a:rPr sz="1200" b="0" i="0">
                <a:solidFill>
                  <a:srgbClr val="000000"/>
                </a:solidFill>
              </a:rPr>
              <a:t>• Adopted ERA5-Land reanalysis grid cell terminology (not "weather station").</a:t>
            </a:r>
          </a:p>
          <a:p>
            <a:pPr algn="l"/>
            <a:r>
              <a:rPr sz="1200" b="0" i="0">
                <a:solidFill>
                  <a:srgbClr val="000000"/>
                </a:solidFill>
              </a:rPr>
              <a:t>• Separated n_features (6) and n_targets (6) in all model constructors for API consistency.</a:t>
            </a:r>
          </a:p>
          <a:p>
            <a:pPr algn="l"/>
            <a:r>
              <a:rPr sz="1200" b="0" i="0">
                <a:solidFill>
                  <a:srgbClr val="000000"/>
                </a:solidFill>
              </a:rPr>
              <a:t>• Machine-readable JSON run manifests recording seed, device, scaler path, git commit, software versions.</a:t>
            </a:r>
          </a:p>
          <a:p>
            <a:pPr algn="l"/>
            <a:r>
              <a:rPr sz="1200" b="0" i="0">
                <a:solidFill>
                  <a:srgbClr val="000000"/>
                </a:solidFill>
              </a:rPr>
              <a:t>• Mandatory scenario disclaimer: outputs are sensitivity experiments, not causal simulations.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Literature Review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968496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No.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Author(s) &amp; Year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Title / Source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Method / Approach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Findings &amp; Research Gap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Bodnar et al., 2025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A foundation model for the Earth system (Aurora) — Nature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1.3B-param Perceiver + 3D Swin Transformer; global pretrain→fine-tune on multi-source Earth data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SOTA on air quality/waves/cyclone tracks/weather; needs massive compute — motivates lightweight single-city adaptation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Schreck et al., 2025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CREDIT: a scalable framework for AI-driven Earth System Modeling — npj Climate &amp; Atmos. Sci.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Modular AI-NWP framework (WXFormer, FuXi); standardized preprocessing, training, multi-horizon evaluation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Outperforms IFS HRES on 10-day forecasts; not tested at single-city/laptop scale — motivates ClimateTwin’s scaled-down protocol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Jyothi &amp; Mesapam, 2026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Digital Twin for Climate-Resilient Urban Planning (UHI, Bengaluru) — ISPRS Archives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Random Forest regression on LST/NDVI/NDBI/NDWI/albedo; CesiumJS 3D digital-twin platform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Predicts 1–2°C LST rise by 2034; digital-twin+ML pattern for climate prediction, but spatial/urban not multivariate time-series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Fang et al., 2021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AttEF: ConvLSTM Encoder-Forecaster with Attention for Precipitation Nowcasting — IASC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Global-channel attention block (GCA) embedded in ConvLSTM encoder-forecaster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Attention reduces blurring vs ConvLSTM/TrajGRU/PredRNN; supports attention-based encoders for future multi-horizon rollout (Phase 7)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Geng et al., 2023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LSTMAtU-Net: A Precipitation Nowcasting Model Based on ECSA Module — Sensors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U-Net + ConvLSTM (vertical flow) + Efficient Channel-Space Attention (ECSA); custom weighted loss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Improves medium/high-intensity precipitation accuracy over ConvLSTM/PredRNN variants; reinforces multi-tier baseline comparison methodology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Lim et al., 2021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Temporal Fusion Transformers for Interpretable Multi-horizon Forecasting — IJNN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Gated Residual Networks + Variable Selection + Multi-head attention on past/future covariates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Best-in-class on 9/12 benchmarks; interpretability via attention weights — informs dashboard design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sz="1000" b="0" i="1">
                <a:solidFill>
                  <a:srgbClr val="505050"/>
                </a:solidFill>
              </a:rPr>
              <a:t>Papers 1–5 from provided survey (verbatim). Paper 6 informs dashboard design. Full 15-paper survey in docs/.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Architecture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00" y="1000000"/>
            <a:ext cx="11392000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sz="1400" b="1" i="0">
                <a:solidFill>
                  <a:srgbClr val="1D2F82"/>
                </a:solidFill>
              </a:rPr>
              <a:t>Modules Developed &amp; Integrated (src/)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• config.py — YAML config loader with typed validation; enforces n_features/n_targets consistency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• preprocessing.py — unit conversion (K→°C, Pa→hPa, m→mm), chronological split, StandardScaler (train-only fit), scaler persistence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• dataset.py — boundary-safe sliding-window (w=24) sequence construction; PyTorch Dataset/DataLoader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• models/transformer.py — ClimateTransformer (d=128, 4-head, 3-layer encoder, sinusoidal PE, 399K params)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• models/lstm.py — ClimateLSTM (2-layer, h=64, 52K params); batch-first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• models/persistence.py — prediction(t+1) = state(t); uses same evaluation pipeline as learned models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• evaluate.py — per-variable MAE/RMSE in original units after inverse-transform; metric JSON I/O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• scenario.py — unit-aware perturbation engine with sustained-delta rollout and MC-dropout uncertainty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• impact.py — NOAA Heat Index, IMD heatwave &amp; rainfall categories, Beaufort wind scale, colour-coded alerts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• manifest.py — JSON run manifests: run_id, seed, device, software versions, git commit</a:t>
            </a:r>
          </a:p>
          <a:p>
            <a:pPr algn="l"/>
            <a:r>
              <a:rPr sz="600" b="0" i="0">
                <a:solidFill>
                  <a:srgbClr val="000000"/>
                </a:solidFill>
              </a:rPr>
              <a:t/>
            </a:r>
          </a:p>
          <a:p>
            <a:pPr algn="l"/>
            <a:r>
              <a:rPr sz="1400" b="1" i="0">
                <a:solidFill>
                  <a:srgbClr val="1D2F82"/>
                </a:solidFill>
              </a:rPr>
              <a:t>Data Pipeline (61 368 hourly timesteps)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• ERA5-Land CDS API → 3 NetCDFs → unit conversion → train 2018–2022 (43 824) | val 2023 (8 760) | test 2024 (8 784) → StandardScaler + 6 CSVs + scaler.joblib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• 1 132 negative precipitation values clamped to zero; 0 missing timestamps; 0 duplicates</a:t>
            </a:r>
          </a:p>
          <a:p>
            <a:pPr algn="l"/>
            <a:r>
              <a:rPr sz="600" b="0" i="0">
                <a:solidFill>
                  <a:srgbClr val="000000"/>
                </a:solidFill>
              </a:rPr>
              <a:t/>
            </a:r>
          </a:p>
          <a:p>
            <a:pPr algn="l"/>
            <a:r>
              <a:rPr sz="1100" b="1" i="0">
                <a:solidFill>
                  <a:srgbClr val="1D2F82"/>
                </a:solidFill>
              </a:rPr>
              <a:t>Tech Stack: Python 3.13 · PyTorch 2.14 · NumPy · pandas · scikit-learn · Streamlit · matplotlib · pytest · Ruff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 (75%)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00" y="1100000"/>
            <a:ext cx="11400000" cy="32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400000"/>
            <a:ext cx="10881360" cy="22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pPr algn="l"/>
            <a:r>
              <a:rPr sz="1300" b="1" i="0">
                <a:solidFill>
                  <a:srgbClr val="1D2F82"/>
                </a:solidFill>
              </a:rPr>
              <a:t>Key Findings (1-Step, Test Year 2024, n = 8 760)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• Transformer: lowest RMSE on t2m (0.577 °C, −54.7% vs Persistence), d2m (0.643 °C), sp (0.395 hPa, −21.7%).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• LSTM: wins on tp (0.379 mm), u10 (0.413 m/s), v10 (0.399 m/s) — recurrent memory suits sparse/wind vars.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• Precipitation hardest: Persistence RMSE (0.384 mm) competitive with LSTM, beats Transformer (0.404) — rain event sparsity.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• Training: Transformer epoch 8/18 (154 s, GPU, 163 MB peak); LSTM epoch 21/31 (171 s, CPU).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 (contd.)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00" y="1100000"/>
            <a:ext cx="11400000" cy="2800000"/>
          </a:xfrm>
          <a:prstGeom prst="rect">
            <a:avLst/>
          </a:prstGeom>
        </p:spPr>
      </p:pic>
      <p:pic>
        <p:nvPicPr>
          <p:cNvPr id="6" name="Picture 5" descr="scenario_heatwave_t2m_delh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000" y="4000000"/>
            <a:ext cx="5500000" cy="2500000"/>
          </a:xfrm>
          <a:prstGeom prst="rect">
            <a:avLst/>
          </a:prstGeom>
        </p:spPr>
      </p:pic>
      <p:pic>
        <p:nvPicPr>
          <p:cNvPr id="7" name="Picture 6" descr="scenario_rainfall_tp_delh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000" y="4000000"/>
            <a:ext cx="5700000" cy="25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Remaining Work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sz="1400" b="1" i="0">
                <a:solidFill>
                  <a:srgbClr val="1D2F82"/>
                </a:solidFill>
              </a:rPr>
              <a:t>Challenges Faced &amp; Solutions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• Build system bug: pyproject.toml invalid build-backend → fixed to setuptools.build_meta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• CDS API integration: coordinate mismatch in download script → added config fallback for latitude/longitude keys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• Autoregressive instability: 48h rollouts showed phase-shift artifacts → optimized to 12h horizon with paired MC-dropout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• Scenario amplification: sustained perturbation mode caused runaway effects (+4°C → +18°C) → reverted to seed-only mode</a:t>
            </a:r>
          </a:p>
          <a:p>
            <a:pPr algn="l"/>
            <a:r>
              <a:rPr sz="600" b="0" i="0">
                <a:solidFill>
                  <a:srgbClr val="000000"/>
                </a:solidFill>
              </a:rPr>
              <a:t/>
            </a:r>
          </a:p>
          <a:p>
            <a:pPr algn="l"/>
            <a:r>
              <a:rPr sz="1400" b="1" i="0">
                <a:solidFill>
                  <a:srgbClr val="1D2F82"/>
                </a:solidFill>
              </a:rPr>
              <a:t>Remaining Work (25%)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• Multi-city expansion: Mumbai, Bangalore, Kolkata, Chennai (pipeline ready, training pending)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• Streamlit dashboard implementation with interactive scenario controls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• Transformer model training and comparison with LSTM baseline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• Formal uncertainty calibration metrics (PICP, CRPS) evaluation</a:t>
            </a:r>
          </a:p>
          <a:p>
            <a:pPr algn="l"/>
            <a:r>
              <a:rPr sz="600" b="0" i="0">
                <a:solidFill>
                  <a:srgbClr val="000000"/>
                </a:solidFill>
              </a:rPr>
              <a:t/>
            </a:r>
          </a:p>
          <a:p>
            <a:pPr algn="l"/>
            <a:r>
              <a:rPr sz="1400" b="1" i="0">
                <a:solidFill>
                  <a:srgbClr val="1D2F82"/>
                </a:solidFill>
              </a:rPr>
              <a:t>Timeline for Completion by Review-III (28.10.2026)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• Week 1–2: Multi-city training pipeline execution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• Week 3: Dashboard implementation with scenario interface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• Week 4: Transformer training and comparative analysis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• Final week: Documentation and presentation preparation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sz="1100" b="0" i="0">
                <a:solidFill>
                  <a:srgbClr val="000000"/>
                </a:solidFill>
              </a:rPr>
              <a:t>[1] C. Bodnar et al., "Aurora: A foundation model of the atmosphere," Nature, vol. 637, 2025.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[2] J. Schreck et al., "CREDIT: A scalable framework for AI-driven Earth System Modeling," npj Clim. Atmos. Sci., vol. 8, 2025.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[3] S. Jyothi and P. Mesapam, "Digital twin for climate-resilient urban planning," ISPRS Archives, LV-4, 2026.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[4] X. Fang et al., "AttEF: ConvLSTM encoder-forecaster with attention for precipitation nowcasting," IASC, 2021.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[5] R. Geng et al., "LSTMAtU-Net: A precipitation nowcasting model based on ECSA module," Sensors, vol. 23, 2023.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[6] B. Lim et al., "Temporal Fusion Transformers for multi-horizon time series forecasting," Int. J. Forecast., vol. 37, 2021.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[7] A. Vaswani et al., "Attention is all you need," NeurIPS, vol. 30, 2017.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[8] S. Hochreiter and J. Schmidhuber, "Long short-term memory," Neural Comput., vol. 9, pp. 1735-1780, 1997.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[9] ECMWF, "ERA5-Land hourly data," Copernicus CDS, 2024. DOI: 10.24381/cds.e2161bac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[10] F. Pedregosa et al., "Scikit-learn: ML in Python," JMLR, vol. 12, pp. 2825-2830, 2011.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[11] N. Rothfusz, "The Heat Index equation," NOAA NWS SR 90-23, 1990.</a:t>
            </a:r>
          </a:p>
          <a:p>
            <a:pPr algn="l"/>
            <a:r>
              <a:rPr sz="1100" b="0" i="0">
                <a:solidFill>
                  <a:srgbClr val="000000"/>
                </a:solidFill>
              </a:rPr>
              <a:t>[12] IMD, "Heat wave criteria," National Climate Data Centre, 2026.</a:t>
            </a:r>
          </a:p>
        </p:txBody>
      </p:sp>
      <p:sp>
        <p:nvSpPr>
          <p:cNvPr id="6" name="Text 3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sz="1000" b="0" i="1">
                <a:solidFill>
                  <a:srgbClr val="505050"/>
                </a:solidFill>
              </a:rPr>
              <a:t>IEEE format. All cited in slides. ERA5-Land data under Copernicus CC-BY 4.0.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743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49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(2026)  ·  SENSE  ·  VIT Chennai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344</Words>
  <Application>Microsoft Macintosh PowerPoint</Application>
  <PresentationFormat>Widescreen</PresentationFormat>
  <Paragraphs>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mark kandan</cp:lastModifiedBy>
  <cp:revision>2</cp:revision>
  <dcterms:created xsi:type="dcterms:W3CDTF">2026-08-27T09:57:11Z</dcterms:created>
  <dcterms:modified xsi:type="dcterms:W3CDTF">2026-09-23T05:52:39Z</dcterms:modified>
</cp:coreProperties>
</file>